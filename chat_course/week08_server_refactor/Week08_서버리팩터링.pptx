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821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333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지금까지 만든 부품(메시지·Codec·Room·저장소)을 한데 모았더니 서버가 다시 커졌다.</a:t>
            </a:r>
          </a:p>
          <a:p>
            <a:r>
              <a:t>오늘 한 줄 목표: 책임을 작은 객체로 나누고, 새 명령(/rename, /w)을 '한 곳 수정'으로 추가한다.</a:t>
            </a:r>
          </a:p>
          <a:p>
            <a:r>
              <a:t>이번 주가 C단계(방)의 마무리이자, 서버 측 설계의 완성.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7주차까지의 server.py 를 띄워, handle 함수가 점점 길어진 걸 보여 준다.</a:t>
            </a:r>
          </a:p>
          <a:p>
            <a:r>
              <a:t>문제는 '한 곳이 너무 많은 일을 한다'. 해결은 '나누기'.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단일 책임: 한 객체가 바뀌어야 하는 이유는 하나뿐이어야 한다.</a:t>
            </a:r>
          </a:p>
          <a:p>
            <a:r>
              <a:t>지난주까지 이미 Room/Repository 는 나눠 두었다. 오늘은 연결·명령을 추가로 분리.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ChatServer 를 '지휘자'로 비유. 연주는 부품(객체)들이 한다.</a:t>
            </a:r>
          </a:p>
          <a:p>
            <a:r>
              <a:t>조립 지점(build_server)에서 부품을 주입 — 5·7주차 DI 의 연장선.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Session 이 생기면서, 서버 곳곳의 작은 딕셔너리(nickname_of, room_of)가 사라진다.</a:t>
            </a:r>
          </a:p>
          <a:p>
            <a:r>
              <a:t>find_by_nickname 은 귓속말(/w) 구현에 쓰인다 — 다음 슬라이드 명령 표와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4주차 메시지 등록표(registry)와 같은 발상 — 분기 대신 표.</a:t>
            </a:r>
          </a:p>
          <a:p>
            <a:r>
              <a:t>새 명령을 추가해도 handle 코드는 안 바뀐다. 표와 메서드만 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on_line 이 짧다 — 분기 두 갈래(명령/메시지)뿐, 나머지는 위임.</a:t>
            </a:r>
          </a:p>
          <a:p>
            <a:r>
              <a:t>7주차까지 길었던 handle 이 작은 객체들로 흩어지며 읽기 쉬워졌다.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실제로 server.py + 두 클라이언트로 캡처. /rename 과 /w 가 동작한다.</a:t>
            </a:r>
          </a:p>
          <a:p>
            <a:r>
              <a:t>데모 포인트: 귓속말은 방 전체가 아니라 두 사람에게만 간다.</a:t>
            </a:r>
          </a:p>
          <a:p>
            <a:r>
              <a:t>핵심: 두 새 명령을 넣을 때 server.py 는 건드리지 않았다 — command.py 표에 두 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1~9주를 한 문장으로 회수: 절차적 → 객체 → 다형성 → DI → 방 → 협력하는 서버.</a:t>
            </a:r>
          </a:p>
          <a:p>
            <a:r>
              <a:t>여기까지가 서버의 완성. 10주부터는 '서버는 그대로 두고' 클라이언트만 바꾼다.</a:t>
            </a:r>
          </a:p>
          <a:p>
            <a:r>
              <a:t>잘 만든 서버(계약)는 클라이언트 종류를 가리지 않는다고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새로 가르치는 게 아니라 '이름표 붙이기'. 학생이 만든 코드가 곧 교과서 패턴이었음을 보여 준다.</a:t>
            </a:r>
          </a:p>
          <a:p>
            <a:r>
              <a:t>Factory: 5주차 from_wire / 4주차 make_message — '무엇을 만들까'를 한곳에서 결정.</a:t>
            </a:r>
          </a:p>
          <a:p>
            <a:r>
              <a:t>Strategy: 5주차 Codec(평문→AES 로 실제 교체함), 7~8주차 RoomRepository(메모리↔파일) — 동작을 부품으로 빼서 갈아끼움.</a:t>
            </a:r>
          </a:p>
          <a:p>
            <a:r>
              <a:t>둘 다 '주입(DI)'으로 밖에서 꽂는다는 점이 공통. 다른 언어(Java 등)에서도 같은 이름으로 만난다고 짚어 주면 좋다.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직접 명령을 추가하며 '한 곳 수정'의 가벼움을 손으로 느끼게 한다.</a:t>
            </a:r>
          </a:p>
          <a:p>
            <a:r>
              <a:t>마지막 생각거리로 '표 기반 분리'의 확장성을 스스로 정리하게 한다.</a:t>
            </a:r>
          </a:p>
          <a:p>
            <a:r>
              <a:t>최종(12주) 발표의 '나만의 기능 1개'와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E86C1"/>
                </a:solidFill>
                <a:latin typeface="맑은 고딕"/>
              </a:rPr>
              <a:t>파이썬으로 만드는 실시간 채팅 프로그램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객체들이 협력하는 서버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2000" b="0">
                <a:solidFill>
                  <a:srgbClr val="C7D3E0"/>
                </a:solidFill>
                <a:latin typeface="맑은 고딕"/>
              </a:rPr>
              <a:t>책임을 작은 객체로 나누기 · 새 기능이 '수술'이 아니라 '끼우기'가 되도록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E86C1"/>
                </a:solidFill>
                <a:latin typeface="맑은 고딕"/>
              </a:rPr>
              <a:t>이런 게 궁금하지 않나요?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맑은 고딕"/>
              </a:rPr>
              <a:t>기능이 늘면서 서버 코드가 다시 커졌다.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600" b="1">
                <a:solidFill>
                  <a:srgbClr val="1F3A5F"/>
                </a:solidFill>
                <a:latin typeface="맑은 고딕"/>
              </a:rPr>
              <a:t>어떻게 정리하지?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754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2000" b="0">
                <a:solidFill>
                  <a:srgbClr val="6B7A8C"/>
                </a:solidFill>
                <a:latin typeface="맑은 고딕"/>
              </a:rPr>
              <a:t>한 함수가 명령 해석·방 관리·전송·세션까지 다 떠안고 있지 않나요?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단일 책임 — 한 객체는 한 가지 일만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연결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관리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—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누가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접속해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있나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(Session /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ConnectionManager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명령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해석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— /create, /join, /w … (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CommandHandler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방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라우팅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—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누구에게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보낼까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(Room)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저장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—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방을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어디에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둘까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(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RoomRepository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각자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자기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일만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하면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,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고칠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때 '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어디를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볼지'가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분명해진다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협력 — 작은 객체들이 서로 부른다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ChatServer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는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직접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일하지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않는다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.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부품들에게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시키고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흐름만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잇는다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900" b="0" dirty="0">
                <a:solidFill>
                  <a:srgbClr val="6B7A8C"/>
                </a:solidFill>
                <a:latin typeface="맑은 고딕"/>
              </a:rPr>
              <a:t>– 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on_line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: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명령이면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CommandHandler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에,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아니면</a:t>
            </a:r>
            <a:r>
              <a:rPr sz="1900" b="0" dirty="0">
                <a:solidFill>
                  <a:srgbClr val="6B7A8C"/>
                </a:solidFill>
                <a:latin typeface="맑은 고딕"/>
              </a:rPr>
              <a:t> Room 에 </a:t>
            </a:r>
            <a:r>
              <a:rPr sz="1900" b="0" dirty="0" err="1">
                <a:solidFill>
                  <a:srgbClr val="6B7A8C"/>
                </a:solidFill>
                <a:latin typeface="맑은 고딕"/>
              </a:rPr>
              <a:t>넘긴다</a:t>
            </a:r>
            <a:endParaRPr sz="1900" b="0" dirty="0">
              <a:solidFill>
                <a:srgbClr val="6B7A8C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CommandHandler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는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Room·Repository·Connections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를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불러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일을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처리</a:t>
            </a:r>
            <a:endParaRPr sz="2200" b="1" dirty="0">
              <a:solidFill>
                <a:srgbClr val="222933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 dirty="0">
                <a:solidFill>
                  <a:srgbClr val="222933"/>
                </a:solidFill>
                <a:latin typeface="맑은 고딕"/>
              </a:rPr>
              <a:t>• 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조립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(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주입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)은 한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곳에서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: </a:t>
            </a:r>
            <a:r>
              <a:rPr sz="2200" b="1" dirty="0" err="1">
                <a:solidFill>
                  <a:srgbClr val="222933"/>
                </a:solidFill>
                <a:latin typeface="맑은 고딕"/>
              </a:rPr>
              <a:t>ChatServer</a:t>
            </a:r>
            <a:r>
              <a:rPr sz="2200" b="1" dirty="0">
                <a:solidFill>
                  <a:srgbClr val="222933"/>
                </a:solidFill>
                <a:latin typeface="맑은 고딕"/>
              </a:rPr>
              <a:t>(codec, rooms, connections)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session.py — 접속을 객체로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1078992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class Session:            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접속한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한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사람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__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init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__(self, conn, nickname):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self.conn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conn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self.nickname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nickname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self.room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None  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현재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방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class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ConnectionManager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:  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모든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Session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관리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add(self, conn, nickname): ...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remove(self, conn): ...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find_by_nickname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(self, name): ...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귓속말에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사용</a:t>
            </a:r>
            <a:endParaRPr sz="1500" b="0" dirty="0">
              <a:solidFill>
                <a:srgbClr val="EAECF0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172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흩어져 있던 접속 정보(닉네임·현재 방)가 Session 한 곳으로.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command.py — 명령을 '표'로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1078992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class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CommandHandler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__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init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__(self, server):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self.server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server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self.table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{            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명령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-&gt;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처리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메서드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    "/create":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self.cmd_create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    "/join":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self.cmd_join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    "/rename":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self.cmd_rename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   # 새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명령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    "/w":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self.cmd_whisper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  # 새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명령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}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handle(self, session, text):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cmd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arg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split(text)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self.table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[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cmd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](session,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arg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)   # if/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elif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대신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표에서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찾기</a:t>
            </a:r>
            <a:endParaRPr sz="1500" b="0" dirty="0">
              <a:solidFill>
                <a:srgbClr val="EAECF0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172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긴 if/elif 대신 표(dict). 새 명령은 표에 한 줄 + 메서드 하나.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server.py — 조립하고 흐름만 지휘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85800" y="1554480"/>
            <a:ext cx="1078992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class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ChatServer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__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init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__(self, codec, rooms, connections):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주입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self.codec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codec;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self.rooms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rooms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self.connections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connections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self.commands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CommandHandler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(self)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def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on_line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(self, session, line):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msg =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self.codec.decode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(line)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if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isinstance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(msg,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TextMessage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) and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msg.text.startswith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("/"):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self.commands.handle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(session,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msg.text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)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명령은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위임</a:t>
            </a:r>
            <a:endParaRPr sz="15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else: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500" b="0" dirty="0">
                <a:solidFill>
                  <a:srgbClr val="EAECF0"/>
                </a:solidFill>
                <a:latin typeface="Consolas"/>
              </a:rPr>
              <a:t>           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session.room.post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(msg,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self.raw_send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)     #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메시지는</a:t>
            </a:r>
            <a:r>
              <a:rPr sz="15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EAECF0"/>
                </a:solidFill>
                <a:latin typeface="Consolas"/>
              </a:rPr>
              <a:t>방으로</a:t>
            </a:r>
            <a:endParaRPr sz="1500" b="0" dirty="0">
              <a:solidFill>
                <a:srgbClr val="EAECF0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1722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ChatServer 는 '누구에게 넘길지'만 정한다. 일은 부품이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직접 돌려보자 — 이름 변경과 귓속말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3545738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민수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057400"/>
            <a:ext cx="3545738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/join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다들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안녕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민수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다들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안녕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***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영희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님이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영희짱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(으)로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  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이름을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바꿨습니다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***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영희짱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이름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바꿨어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/w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영희짱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우리끼리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비밀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(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귓속말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→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영희짱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) 나: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우리끼리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비밀</a:t>
            </a:r>
            <a:endParaRPr sz="1300" b="0" dirty="0">
              <a:solidFill>
                <a:srgbClr val="EAECF0"/>
              </a:solidFill>
              <a:latin typeface="Consola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22978" y="1554480"/>
            <a:ext cx="3545738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영희 → 영희짱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2978" y="2057400"/>
            <a:ext cx="3545738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/join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잡담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민수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다들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안녕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/rename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영희짱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이름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바꿨어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 err="1">
                <a:solidFill>
                  <a:srgbClr val="EAECF0"/>
                </a:solidFill>
                <a:latin typeface="Consolas"/>
              </a:rPr>
              <a:t>영희짱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이름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바꿨어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(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귓속말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)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민수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우리끼리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비밀</a:t>
            </a:r>
            <a:endParaRPr sz="1300" b="0" dirty="0">
              <a:solidFill>
                <a:srgbClr val="EAECF0"/>
              </a:solidFill>
              <a:latin typeface="Consolas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←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둘만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보인다</a:t>
            </a:r>
            <a:endParaRPr sz="1300" b="0" dirty="0">
              <a:solidFill>
                <a:srgbClr val="EAECF0"/>
              </a:solidFill>
              <a:latin typeface="Consola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143036" y="1554480"/>
            <a:ext cx="3545738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onsolas"/>
              </a:rPr>
              <a:t>새 명령을 추가한 곳</a:t>
            </a:r>
          </a:p>
        </p:txBody>
      </p:sp>
      <p:sp>
        <p:nvSpPr>
          <p:cNvPr id="9" name="Rectangle 8"/>
          <p:cNvSpPr/>
          <p:nvPr/>
        </p:nvSpPr>
        <p:spPr>
          <a:xfrm>
            <a:off x="8143036" y="2057400"/>
            <a:ext cx="3545738" cy="4297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t"/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command.py 의 표: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"/rename":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self.cmd_rename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"/w":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self.cmd_whisper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,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→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서버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본체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(server.py)는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300" b="0" dirty="0">
                <a:solidFill>
                  <a:srgbClr val="EAECF0"/>
                </a:solidFill>
                <a:latin typeface="Consolas"/>
              </a:rPr>
              <a:t>   한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줄도</a:t>
            </a:r>
            <a:r>
              <a:rPr sz="1300" b="0" dirty="0">
                <a:solidFill>
                  <a:srgbClr val="EAECF0"/>
                </a:solidFill>
                <a:latin typeface="Consolas"/>
              </a:rPr>
              <a:t> 안 </a:t>
            </a:r>
            <a:r>
              <a:rPr sz="1300" b="0" dirty="0" err="1">
                <a:solidFill>
                  <a:srgbClr val="EAECF0"/>
                </a:solidFill>
                <a:latin typeface="Consolas"/>
              </a:rPr>
              <a:t>고쳤다</a:t>
            </a:r>
            <a:endParaRPr sz="1300" b="0" dirty="0">
              <a:solidFill>
                <a:srgbClr val="EAECF0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E86C1"/>
                </a:solidFill>
                <a:latin typeface="맑은 고딕"/>
              </a:rPr>
              <a:t>오늘 손에 남는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400" b="1" dirty="0" err="1">
                <a:solidFill>
                  <a:srgbClr val="FFFFFF"/>
                </a:solidFill>
                <a:latin typeface="맑은 고딕"/>
              </a:rPr>
              <a:t>설계가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좋으면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, 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기능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추가가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 '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수술'이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아니라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 '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끼우기'가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맑은 고딕"/>
              </a:rPr>
              <a:t>된다</a:t>
            </a:r>
            <a:r>
              <a:rPr sz="3400" b="1" dirty="0">
                <a:solidFill>
                  <a:srgbClr val="FFFFFF"/>
                </a:solidFill>
                <a:latin typeface="맑은 고딕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 dirty="0">
                <a:solidFill>
                  <a:srgbClr val="C7D3E0"/>
                </a:solidFill>
                <a:latin typeface="맑은 고딕"/>
              </a:rPr>
              <a:t>•  한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객체는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한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가지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일만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(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단일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책임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)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 dirty="0">
                <a:solidFill>
                  <a:srgbClr val="C7D3E0"/>
                </a:solidFill>
                <a:latin typeface="맑은 고딕"/>
              </a:rPr>
              <a:t>• 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ChatServer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는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조립·지휘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,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일은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부품이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(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협력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)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 dirty="0">
                <a:solidFill>
                  <a:srgbClr val="C7D3E0"/>
                </a:solidFill>
                <a:latin typeface="맑은 고딕"/>
              </a:rPr>
              <a:t>•  새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명령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=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표에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한 줄 +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메서드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하나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,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본체는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그대로</a:t>
            </a:r>
            <a:endParaRPr sz="2000" b="0" dirty="0">
              <a:solidFill>
                <a:srgbClr val="C7D3E0"/>
              </a:solidFill>
              <a:latin typeface="맑은 고딕"/>
            </a:endParaRP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2000" b="0" dirty="0">
                <a:solidFill>
                  <a:srgbClr val="C7D3E0"/>
                </a:solidFill>
                <a:latin typeface="맑은 고딕"/>
              </a:rPr>
              <a:t>• 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다음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단계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: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같은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서버에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화면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(GUI)·웹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클라이언트를</a:t>
            </a:r>
            <a:r>
              <a:rPr sz="2000" b="0" dirty="0">
                <a:solidFill>
                  <a:srgbClr val="C7D3E0"/>
                </a:solidFill>
                <a:latin typeface="맑은 고딕"/>
              </a:rPr>
              <a:t> </a:t>
            </a:r>
            <a:r>
              <a:rPr sz="2000" b="0" dirty="0" err="1">
                <a:solidFill>
                  <a:srgbClr val="C7D3E0"/>
                </a:solidFill>
                <a:latin typeface="맑은 고딕"/>
              </a:rPr>
              <a:t>붙인다</a:t>
            </a:r>
            <a:endParaRPr sz="2000" b="0" dirty="0">
              <a:solidFill>
                <a:srgbClr val="C7D3E0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사실은 — 우리가 만든 게 '교과서 패턴' 이었다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89994"/>
              </p:ext>
            </p:extLst>
          </p:nvPr>
        </p:nvGraphicFramePr>
        <p:xfrm>
          <a:off x="685800" y="1600200"/>
          <a:ext cx="10789920" cy="2514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109728" marR="109728" marT="36576" marB="36576" anchor="ctr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팩토리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(Factory)</a:t>
                      </a:r>
                    </a:p>
                  </a:txBody>
                  <a:tcPr marL="109728" marR="109728" marT="36576" marB="36576" anchor="ctr">
                    <a:solidFill>
                      <a:srgbClr val="2E86C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dirty="0" err="1">
                          <a:solidFill>
                            <a:srgbClr val="FF0000"/>
                          </a:solidFill>
                          <a:latin typeface="맑은 고딕"/>
                        </a:rPr>
                        <a:t>전략</a:t>
                      </a:r>
                      <a:r>
                        <a:rPr sz="16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(Strategy)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DI + </a:t>
                      </a:r>
                      <a:r>
                        <a:rPr lang="ko-KR" altLang="en-US" sz="16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인터페이스 </a:t>
                      </a:r>
                      <a:r>
                        <a:rPr lang="en-US" altLang="ko-KR" sz="16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+ </a:t>
                      </a:r>
                      <a:r>
                        <a:rPr lang="ko-KR" altLang="en-US" sz="16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알고리즘</a:t>
                      </a:r>
                      <a:endParaRPr sz="16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9728" marR="109728" marT="36576" marB="36576" anchor="ctr">
                    <a:solidFill>
                      <a:srgbClr val="2E86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알맞은 객체를 만들어 준다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동작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(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알고리즘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)을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갈아끼운다</a:t>
                      </a:r>
                      <a:endParaRPr sz="1600" b="0" dirty="0">
                        <a:solidFill>
                          <a:srgbClr val="222933"/>
                        </a:solidFill>
                        <a:latin typeface="맑은 고딕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핵심 질문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무엇을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만들까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?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어떻게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처리할까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?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우리 코드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from_wire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,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make_message</a:t>
                      </a:r>
                      <a:endParaRPr sz="1600" b="0" dirty="0">
                        <a:solidFill>
                          <a:srgbClr val="222933"/>
                        </a:solidFill>
                        <a:latin typeface="맑은 고딕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Codec,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RoomRepository</a:t>
                      </a:r>
                      <a:endParaRPr sz="1600" b="0" dirty="0">
                        <a:solidFill>
                          <a:srgbClr val="222933"/>
                        </a:solidFill>
                        <a:latin typeface="맑은 고딕"/>
                      </a:endParaRP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갈아끼운 예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933"/>
                          </a:solidFill>
                          <a:latin typeface="맑은 고딕"/>
                        </a:rPr>
                        <a:t>한 줄 → 알맞은 Message 객체</a:t>
                      </a: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평문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 ↔ AES, 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메모리</a:t>
                      </a:r>
                      <a:r>
                        <a:rPr sz="1600" b="0" dirty="0">
                          <a:solidFill>
                            <a:srgbClr val="222933"/>
                          </a:solidFill>
                          <a:latin typeface="맑은 고딕"/>
                        </a:rPr>
                        <a:t> ↔ </a:t>
                      </a:r>
                      <a:r>
                        <a:rPr sz="1600" b="0" dirty="0" err="1">
                          <a:solidFill>
                            <a:srgbClr val="222933"/>
                          </a:solidFill>
                          <a:latin typeface="맑은 고딕"/>
                        </a:rPr>
                        <a:t>파일</a:t>
                      </a:r>
                      <a:endParaRPr sz="1600" b="0" dirty="0">
                        <a:solidFill>
                          <a:srgbClr val="222933"/>
                        </a:solidFill>
                        <a:latin typeface="맑은 고딕"/>
                      </a:endParaRPr>
                    </a:p>
                  </a:txBody>
                  <a:tcPr marL="109728" marR="109728" marT="36576" marB="36576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2179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B7A8C"/>
                </a:solidFill>
                <a:latin typeface="맑은 고딕"/>
              </a:rPr>
              <a:t>새 개념이 아니다 — 이미 만들어 쓰던 것에 '이름'을 붙였을 뿐. (Factory=생성, Strategy=교체 가능한 동작)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A5F"/>
                </a:solidFill>
                <a:latin typeface="맑은 고딕"/>
              </a:rPr>
              <a:t>직접 해보기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>
                <a:solidFill>
                  <a:srgbClr val="222933"/>
                </a:solidFill>
                <a:latin typeface="맑은 고딕"/>
              </a:rPr>
              <a:t>•  새 명령 직접 추가하기 — 예: /me (행동 표현), /clear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1900" b="0">
                <a:solidFill>
                  <a:srgbClr val="6B7A8C"/>
                </a:solidFill>
                <a:latin typeface="맑은 고딕"/>
              </a:rPr>
              <a:t>–  command.py 표에 한 줄 + 메서드 하나만 추가해 보기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>
                <a:solidFill>
                  <a:srgbClr val="222933"/>
                </a:solidFill>
                <a:latin typeface="맑은 고딕"/>
              </a:rPr>
              <a:t>•  /w 를 '현재 방 안에서만' 가능하도록 제한해 보기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>
                <a:solidFill>
                  <a:srgbClr val="222933"/>
                </a:solidFill>
                <a:latin typeface="맑은 고딕"/>
              </a:rPr>
              <a:t>•  ConnectionManager 에 '전체 접속자 수' 보여주는 /count 추가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sz="2200" b="1">
                <a:solidFill>
                  <a:srgbClr val="222933"/>
                </a:solidFill>
                <a:latin typeface="맑은 고딕"/>
              </a:rPr>
              <a:t>•  (생각) 명령이 100개가 되어도 이 구조가 견딜까? 왜?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1397</Words>
  <Application>Microsoft Office PowerPoint</Application>
  <PresentationFormat>와이드스크린</PresentationFormat>
  <Paragraphs>141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이하빈</cp:lastModifiedBy>
  <cp:revision>3</cp:revision>
  <dcterms:created xsi:type="dcterms:W3CDTF">2013-01-27T09:14:16Z</dcterms:created>
  <dcterms:modified xsi:type="dcterms:W3CDTF">2026-08-13T09:23:15Z</dcterms:modified>
  <cp:category/>
</cp:coreProperties>
</file>